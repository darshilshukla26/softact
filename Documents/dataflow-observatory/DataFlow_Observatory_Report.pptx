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7472"/>
            <a:ext cx="64008" cy="44485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347472"/>
            <a:ext cx="64008" cy="44485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Observatory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0" y="178308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Quality Monitoring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Darshil Shukla  |  April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streaming pipeline with automated quality validation, alerting, and observability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4069080"/>
            <a:ext cx="969264" cy="274320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81328" y="4069080"/>
            <a:ext cx="969264" cy="274320"/>
          </a:xfrm>
          <a:prstGeom prst="rect">
            <a:avLst/>
          </a:prstGeom>
          <a:solidFill>
            <a:srgbClr val="1C729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23744" y="4069080"/>
            <a:ext cx="969264" cy="274320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4069080"/>
            <a:ext cx="969264" cy="274320"/>
          </a:xfrm>
          <a:prstGeom prst="rect">
            <a:avLst/>
          </a:prstGeom>
          <a:solidFill>
            <a:srgbClr val="1C729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08576" y="4069080"/>
            <a:ext cx="969264" cy="274320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50992" y="4069080"/>
            <a:ext cx="969264" cy="274320"/>
          </a:xfrm>
          <a:prstGeom prst="rect">
            <a:avLst/>
          </a:prstGeom>
          <a:solidFill>
            <a:srgbClr val="1C729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93408" y="4069080"/>
            <a:ext cx="969264" cy="274320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35824" y="4069080"/>
            <a:ext cx="969264" cy="274320"/>
          </a:xfrm>
          <a:prstGeom prst="rect">
            <a:avLst/>
          </a:prstGeom>
          <a:solidFill>
            <a:srgbClr val="1C729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4069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2926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streaming data pipeline from simulation to dashboard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Clickstream &amp; IoT sensor simulators (~200 events/sec combined)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microservices: ingest, validate, and dispatch via Kafka topics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transformations with 5 data models in Snowflake (997K+ rows)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sorted-set priority queue for alert dispatching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monitoring — 11 panels, 4 alert rules, 8 metrics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20640" y="914400"/>
            <a:ext cx="1828800" cy="1234440"/>
          </a:xfrm>
          <a:prstGeom prst="rect">
            <a:avLst/>
          </a:prstGeom>
          <a:solidFill>
            <a:srgbClr val="065A82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10789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~200/s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12064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68312" y="914400"/>
            <a:ext cx="1828800" cy="1234440"/>
          </a:xfrm>
          <a:prstGeom prst="rect">
            <a:avLst/>
          </a:prstGeom>
          <a:solidFill>
            <a:srgbClr val="1C7293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68312" y="10789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068312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Messages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267712"/>
            <a:ext cx="1828800" cy="1234440"/>
          </a:xfrm>
          <a:prstGeom prst="rect">
            <a:avLst/>
          </a:prstGeom>
          <a:solidFill>
            <a:srgbClr val="1A4A6E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4323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120640" y="3072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8312" y="2267712"/>
            <a:ext cx="1828800" cy="1234440"/>
          </a:xfrm>
          <a:prstGeom prst="rect">
            <a:avLst/>
          </a:prstGeom>
          <a:solidFill>
            <a:srgbClr val="0A3A5C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68312" y="24323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68312" y="3072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3621024"/>
            <a:ext cx="1828800" cy="1234440"/>
          </a:xfrm>
          <a:prstGeom prst="rect">
            <a:avLst/>
          </a:prstGeom>
          <a:solidFill>
            <a:srgbClr val="0E4D6E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37856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120640" y="4425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68312" y="3621024"/>
            <a:ext cx="1828800" cy="1234440"/>
          </a:xfrm>
          <a:prstGeom prst="rect">
            <a:avLst/>
          </a:prstGeom>
          <a:solidFill>
            <a:srgbClr val="0C3050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68312" y="37856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68312" y="4425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Panels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60120"/>
            <a:ext cx="868680" cy="658368"/>
          </a:xfrm>
          <a:prstGeom prst="rect">
            <a:avLst/>
          </a:prstGeom>
          <a:solidFill>
            <a:srgbClr val="1C7293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69848" y="1289304"/>
            <a:ext cx="2560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234440"/>
            <a:ext cx="6400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960120"/>
            <a:ext cx="868680" cy="658368"/>
          </a:xfrm>
          <a:prstGeom prst="rect">
            <a:avLst/>
          </a:prstGeom>
          <a:solidFill>
            <a:srgbClr val="065A82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25880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1289304"/>
            <a:ext cx="2560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86584" y="1234440"/>
            <a:ext cx="6400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960120"/>
            <a:ext cx="868680" cy="658368"/>
          </a:xfrm>
          <a:prstGeom prst="rect">
            <a:avLst/>
          </a:prstGeom>
          <a:solidFill>
            <a:srgbClr val="21295C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9272" y="1289304"/>
            <a:ext cx="2560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11296" y="1234440"/>
            <a:ext cx="6400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960120"/>
            <a:ext cx="868680" cy="658368"/>
          </a:xfrm>
          <a:prstGeom prst="rect">
            <a:avLst/>
          </a:prstGeom>
          <a:solidFill>
            <a:srgbClr val="1A4A6E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75304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43984" y="1289304"/>
            <a:ext cx="2560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008" y="1234440"/>
            <a:ext cx="6400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960120"/>
            <a:ext cx="868680" cy="658368"/>
          </a:xfrm>
          <a:prstGeom prst="rect">
            <a:avLst/>
          </a:prstGeom>
          <a:solidFill>
            <a:srgbClr val="1C7293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0016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68696" y="1289304"/>
            <a:ext cx="2560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1234440"/>
            <a:ext cx="6400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4728" y="960120"/>
            <a:ext cx="868680" cy="658368"/>
          </a:xfrm>
          <a:prstGeom prst="rect">
            <a:avLst/>
          </a:prstGeom>
          <a:solidFill>
            <a:srgbClr val="065A82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24728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93408" y="1289304"/>
            <a:ext cx="2560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5432" y="1234440"/>
            <a:ext cx="6400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960120"/>
            <a:ext cx="868680" cy="658368"/>
          </a:xfrm>
          <a:prstGeom prst="rect">
            <a:avLst/>
          </a:prstGeom>
          <a:solidFill>
            <a:srgbClr val="7C3D00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18120" y="1289304"/>
            <a:ext cx="25603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1234440"/>
            <a:ext cx="6400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74152" y="960120"/>
            <a:ext cx="868680" cy="658368"/>
          </a:xfrm>
          <a:prstGeom prst="rect">
            <a:avLst/>
          </a:prstGeom>
          <a:solidFill>
            <a:srgbClr val="4A0E8F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74152" y="960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1828800"/>
            <a:ext cx="2011680" cy="1143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1892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Simulators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22037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(user events) + IoT Sensor data — 100 events/sec each to raw_events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96312" y="1828800"/>
            <a:ext cx="2011680" cy="1143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87752" y="1892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87752" y="22037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topics: raw_events, validated_events, alerts — 3 partitions, RF=1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26864" y="1828800"/>
            <a:ext cx="2011680" cy="1143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18304" y="1892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Microservices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18304" y="22037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Ingestor, Validator, Dispatcher — independent consumer groups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57416" y="1828800"/>
            <a:ext cx="2011680" cy="1143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48856" y="1892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48856" y="22037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 priority queue; scores by severity × recency (0–10k)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435608" y="3136392"/>
            <a:ext cx="2011680" cy="1143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527048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527048" y="35112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ANALYTICS schemas; dbt incremental models, XS warehouse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66160" y="3136392"/>
            <a:ext cx="2011680" cy="1143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65760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Bridge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0" y="35112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service exporting 7 custom Prometheus metrics on port 8080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96712" y="3136392"/>
            <a:ext cx="2011680" cy="1143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788152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788152" y="35112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panels, 3 row sections, 4 alert rules, 15s eval interval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Infrastructure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4747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32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Docker Containers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— Kafka coordination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3 topics, 3 partitions each, replication factor 1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kafka-ui — Provectus web UI for topic/consumer inspection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Priority alert queue (port 6379)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— Metrics scraping, 15s intervals (port 9090)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Dashboard visualization (port 3000)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metrics-bridge — Custom Go exporter for Snowflake/Redis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4069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Kafka Topics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407408"/>
            <a:ext cx="1371600" cy="347472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407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raw_events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47088" y="4407408"/>
            <a:ext cx="1371600" cy="347472"/>
          </a:xfrm>
          <a:prstGeom prst="rect">
            <a:avLst/>
          </a:prstGeom>
          <a:solidFill>
            <a:srgbClr val="1C729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4407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validated_events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28416" y="4407408"/>
            <a:ext cx="137160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4407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pic>
        <p:nvPicPr>
          <p:cNvPr id="13" name="Image 0" descr="/tmp/dfo_screenshots/kafka_top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Simulators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Simulator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80744"/>
            <a:ext cx="4023360" cy="3429000"/>
          </a:xfrm>
          <a:prstGeom prst="rect">
            <a:avLst/>
          </a:prstGeom>
          <a:solidFill>
            <a:srgbClr val="0A3A5C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17904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user web interactions: page_view, click, purchase, search, video_watch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events/second, randomized user sessions (user_001 – user_500)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fields: event_type, user_id, page_url, session_id, timestamp, device, country, revenue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DQ errors: missing fields, invalid values, type mismatches (5% error rate)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 → raw_events topic, JSON serialization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Configurable: event mix weights, error injection rate, burst mode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601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Simulator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380744"/>
            <a:ext cx="4023360" cy="3429000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17904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sensor readings: temperature, humidity, pressure, battery_level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events/second across 50 virtual device IDs (device_001 – device_050)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ranges: temp 15-35°C, humidity 30-80%, pressure 950-1050 hPa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anomalies injected (5% rate) for DQ validation testing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 → raw_events topic alongside clickstream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sensor_id, sensor_type, value, unit, location, timestamp, firmware_ver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Microservices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4747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297680" cy="1298448"/>
          </a:xfrm>
          <a:prstGeom prst="rect">
            <a:avLst/>
          </a:prstGeom>
          <a:solidFill>
            <a:srgbClr val="0A3A5C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2296" cy="12984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971800" y="1005840"/>
            <a:ext cx="1627632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005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ingestor-group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raw_events topic. Deserializes JSON, tags source (clickstream/IoT), batch-inserts into Snowflake RAW.EVENTS. Processes ~200 events/sec with a 250-event micro-batch window. Exposes ingest latency and throughput metrics.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297680" cy="1298448"/>
          </a:xfrm>
          <a:prstGeom prst="rect">
            <a:avLst/>
          </a:prstGeom>
          <a:solidFill>
            <a:srgbClr val="0A3A5C"/>
          </a:solidFill>
          <a:ln w="1524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82296" cy="12984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971800" y="2468880"/>
            <a:ext cx="1627632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468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validator-group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2816352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raw_events topic. Runs 8 DQ rule checks: null fields, value ranges, type correctness, recency, enum membership, regex match, referential integrity. Writes DQ_METRICS rows and publishes failed-check alerts to the alerts topic.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297680" cy="1298448"/>
          </a:xfrm>
          <a:prstGeom prst="rect">
            <a:avLst/>
          </a:prstGeom>
          <a:solidFill>
            <a:srgbClr val="0A3A5C"/>
          </a:solidFill>
          <a:ln w="15240">
            <a:solidFill>
              <a:srgbClr val="1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82296" cy="1298448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9136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971800" y="3931920"/>
            <a:ext cx="1627632" cy="256032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931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dispatcher-group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4279392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alerts topic. Priority-scores each alert (priority × 1000 + unix_ms) and pushes to Redis sorted set for ordered fan-out. Exposes /metrics endpoint scraped by Prometheus every 15 seconds.</a:t>
            </a:r>
            <a:endParaRPr lang="en-US" sz="1100" dirty="0"/>
          </a:p>
        </p:txBody>
      </p:sp>
      <p:pic>
        <p:nvPicPr>
          <p:cNvPr id="22" name="Image 0" descr="/tmp/dfo_screenshots/kafka_consum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Transformations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4023360" cy="1920240"/>
          </a:xfrm>
          <a:prstGeom prst="rect">
            <a:avLst/>
          </a:prstGeom>
          <a:solidFill>
            <a:srgbClr val="0A3A5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402336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24944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stg_events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1051560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051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997,248 rows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Casts raw JSON to typed columns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event_data VARIANT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dbt run metadata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RAW.EVENTS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960120"/>
            <a:ext cx="4023360" cy="1920240"/>
          </a:xfrm>
          <a:prstGeom prst="rect">
            <a:avLst/>
          </a:prstGeom>
          <a:solidFill>
            <a:srgbClr val="0A3A5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960120"/>
            <a:ext cx="40233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024128"/>
            <a:ext cx="24944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fct_events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051560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051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997,248 rows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1737360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business fields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revenue_category, hour_of_day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validity flags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stg_events + DQ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4023360" cy="1920240"/>
          </a:xfrm>
          <a:prstGeom prst="rect">
            <a:avLst/>
          </a:prstGeom>
          <a:solidFill>
            <a:srgbClr val="0A3A5C"/>
          </a:solidFill>
          <a:ln w="12700">
            <a:solidFill>
              <a:srgbClr val="1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4023360" cy="420624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72968"/>
            <a:ext cx="24944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dq_metrics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66160" y="3200400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200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10,234 rows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DQ scores 0-100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8 rule pass/fail flags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by window &amp; event 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RAW.DQ_METRICS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108960"/>
            <a:ext cx="4023360" cy="1920240"/>
          </a:xfrm>
          <a:prstGeom prst="rect">
            <a:avLst/>
          </a:prstGeom>
          <a:solidFill>
            <a:srgbClr val="0A3A5C"/>
          </a:solidFill>
          <a:ln w="12700">
            <a:solidFill>
              <a:srgbClr val="6B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3108960"/>
            <a:ext cx="4023360" cy="42062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172968"/>
            <a:ext cx="24944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alert_summary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200400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3200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10,234 rows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886200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priority distribution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alert types ranked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alert volume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RAW.ALERTS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Warehouse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840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DATAFLOW_DB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893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Schema: RAW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910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raw ingested records (997K rows)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379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DQ_METRICS — per-event quality scores (10K rows)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— generated alert records (10K rows)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Schema: ANALYTICS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066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STG_EVENTS — typed staging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535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FCT_EVENTS — business fact mart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DQ_METRICS — aggregated quality 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4472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ALERT_SUMMARY — alert rollup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8130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997K+ events ingested; XS warehouse, auto-suspend 60s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dbt strategy with unique_key on event_id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 cache enabled; full-refresh weekly for DQ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Python connector in Go via gosnowflake driver</a:t>
            </a:r>
            <a:endParaRPr lang="en-US" sz="1100" dirty="0"/>
          </a:p>
        </p:txBody>
      </p:sp>
      <p:pic>
        <p:nvPicPr>
          <p:cNvPr id="16" name="Image 0" descr="/tmp/dfo_screenshots/snowflake_row_cou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1920240"/>
          </a:xfrm>
          <a:prstGeom prst="rect">
            <a:avLst/>
          </a:prstGeom>
        </p:spPr>
      </p:pic>
      <p:pic>
        <p:nvPicPr>
          <p:cNvPr id="17" name="Image 1" descr="/tmp/dfo_screenshots/snowflake_raw_even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2971800"/>
            <a:ext cx="39319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— Quality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43891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343400" cy="896112"/>
          </a:xfrm>
          <a:prstGeom prst="rect">
            <a:avLst/>
          </a:prstGeom>
          <a:solidFill>
            <a:srgbClr val="0A3A5C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82296" cy="8961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51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Service Availability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4343400" cy="896112"/>
          </a:xfrm>
          <a:prstGeom prst="rect">
            <a:avLst/>
          </a:prstGeom>
          <a:solidFill>
            <a:srgbClr val="0A3A5C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47672"/>
            <a:ext cx="82296" cy="89611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391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" y="2523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Service Uptime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4343400" cy="896112"/>
          </a:xfrm>
          <a:prstGeom prst="rect">
            <a:avLst/>
          </a:prstGeom>
          <a:solidFill>
            <a:srgbClr val="0A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35224"/>
            <a:ext cx="82296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266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6928" y="35112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Dashboard Panel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4343400" cy="896112"/>
          </a:xfrm>
          <a:prstGeom prst="rect">
            <a:avLst/>
          </a:prstGeom>
          <a:solidFill>
            <a:srgbClr val="0A3A5C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22776"/>
            <a:ext cx="82296" cy="8961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0142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66928" y="4498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Alerts Tracked</a:t>
            </a:r>
            <a:endParaRPr lang="en-US" sz="1300" dirty="0"/>
          </a:p>
        </p:txBody>
      </p:sp>
      <p:pic>
        <p:nvPicPr>
          <p:cNvPr id="20" name="Image 0" descr="/tmp/dfo_screenshots/grafana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— Alert Detail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4114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32688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Type Distribution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343400" cy="420624"/>
          </a:xfrm>
          <a:prstGeom prst="rect">
            <a:avLst/>
          </a:prstGeom>
          <a:solidFill>
            <a:srgbClr val="0A3A5C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" cy="42062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range_violation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362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4,821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4343400" cy="420624"/>
          </a:xfrm>
          <a:prstGeom prst="rect">
            <a:avLst/>
          </a:prstGeom>
          <a:solidFill>
            <a:srgbClr val="0A3A5C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73936"/>
            <a:ext cx="73152" cy="4206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missing_field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1856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1847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4343400" cy="420624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67712"/>
            <a:ext cx="73152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type_mismatch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23500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2340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761488"/>
            <a:ext cx="4343400" cy="420624"/>
          </a:xfrm>
          <a:prstGeom prst="rect">
            <a:avLst/>
          </a:prstGeom>
          <a:solidFill>
            <a:srgbClr val="0A3A5C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61488"/>
            <a:ext cx="73152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52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stale_data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3240" y="28437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" y="372160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processing latency: &lt; 50ms p95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lag: &lt; 100 messages sustained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~200 events/sec continuous under 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alert rules, 15s evaluation window, no flapping</a:t>
            </a:r>
            <a:endParaRPr lang="en-US" sz="1200" dirty="0"/>
          </a:p>
        </p:txBody>
      </p:sp>
      <p:pic>
        <p:nvPicPr>
          <p:cNvPr id="27" name="Image 0" descr="/tmp/dfo_screenshots/grafana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Monitoring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840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343400" cy="841248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82296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692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Bridge (Go Service)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27101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Go exporter that queries Snowflake + Redis, caches results, and exposes /metrics on port 8080. Prometheus scrapes all 3 targets every 15 seconds.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Exposed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4343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dataflow_events_total — cumulative count by source type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dataflow_dq_score_avg — rolling average quality score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dataflow_alerts_total — total alerts by type &amp; severity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dataflow_kafka_lag — consumer group lag by topic/partition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dataflow_redis_queue_depth — priority queue depth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dataflow_snowflake_ingest_latency — batch write latency (s)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go_goroutines, process_cpu_seconds — runtime internals</a:t>
            </a:r>
            <a:endParaRPr lang="en-US" sz="1150" dirty="0"/>
          </a:p>
        </p:txBody>
      </p:sp>
      <p:pic>
        <p:nvPicPr>
          <p:cNvPr id="10" name="Image 0" descr="/tmp/dfo_screenshots/prometheus_targe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1920240"/>
          </a:xfrm>
          <a:prstGeom prst="rect">
            <a:avLst/>
          </a:prstGeom>
        </p:spPr>
      </p:pic>
      <p:pic>
        <p:nvPicPr>
          <p:cNvPr id="11" name="Image 1" descr="/tmp/dfo_screenshots/prometheus_grap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2971800"/>
            <a:ext cx="39319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Alert Queue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343400" cy="749808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64008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8992" y="133502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alerts:priority_queue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162763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 of alert IDs, scored by priority×1000 + unix_ms for stable ordering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343400" cy="749808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64008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78992" y="21762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alert:{id}:payload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78992" y="246888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alert payload: type, severity, event_id, timestamp, message, source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4343400" cy="749808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44368"/>
            <a:ext cx="64008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4436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8992" y="30175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stats:alerts:counts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78992" y="331012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 per alert type, used for Prometheus metrics calculation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85616"/>
            <a:ext cx="4343400" cy="749808"/>
          </a:xfrm>
          <a:prstGeom prst="rect">
            <a:avLst/>
          </a:prstGeom>
          <a:solidFill>
            <a:srgbClr val="0A3A5C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85616"/>
            <a:ext cx="64008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8561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78992" y="38587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stats:dq:scores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78992" y="415137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1000-element window of raw DQ scores for real-time averaging</a:t>
            </a:r>
            <a:endParaRPr lang="en-US" sz="1000" dirty="0"/>
          </a:p>
        </p:txBody>
      </p:sp>
      <p:pic>
        <p:nvPicPr>
          <p:cNvPr id="25" name="Image 0" descr="/tmp/dfo_screenshots/redis_insigh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Deep Dive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2926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Partition Configuration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3434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0759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93392" y="130759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3075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Lag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307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4343400" cy="365760"/>
          </a:xfrm>
          <a:prstGeom prst="rect">
            <a:avLst/>
          </a:prstGeom>
          <a:solidFill>
            <a:srgbClr val="0A3A5C"/>
          </a:solidFill>
          <a:ln w="381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6550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raw_events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93392" y="165506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16550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1655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~200/s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4343400" cy="365760"/>
          </a:xfrm>
          <a:prstGeom prst="rect">
            <a:avLst/>
          </a:prstGeom>
          <a:solidFill>
            <a:srgbClr val="0A2540"/>
          </a:solidFill>
          <a:ln w="381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0391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validated_events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93392" y="20391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2039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msgs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2039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~190/s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359152"/>
            <a:ext cx="4343400" cy="365760"/>
          </a:xfrm>
          <a:prstGeom prst="rect">
            <a:avLst/>
          </a:prstGeom>
          <a:solidFill>
            <a:srgbClr val="0A3A5C"/>
          </a:solidFill>
          <a:ln w="381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4231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93392" y="24231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0" y="2423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msgs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0" y="2423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~10/s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2834640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3182112"/>
            <a:ext cx="4343400" cy="402336"/>
          </a:xfrm>
          <a:prstGeom prst="rect">
            <a:avLst/>
          </a:prstGeom>
          <a:solidFill>
            <a:srgbClr val="0A3A5C"/>
          </a:solidFill>
          <a:ln w="6350">
            <a:solidFill>
              <a:srgbClr val="2DC65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182112"/>
            <a:ext cx="10972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255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ingestor-group  —  1 member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70332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4343400" cy="402336"/>
          </a:xfrm>
          <a:prstGeom prst="rect">
            <a:avLst/>
          </a:prstGeom>
          <a:solidFill>
            <a:srgbClr val="0A3A5C"/>
          </a:solidFill>
          <a:ln w="6350">
            <a:solidFill>
              <a:srgbClr val="2DC65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657600"/>
            <a:ext cx="10972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3730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validator-group  —  1 member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0332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133088"/>
            <a:ext cx="4343400" cy="402336"/>
          </a:xfrm>
          <a:prstGeom prst="rect">
            <a:avLst/>
          </a:prstGeom>
          <a:solidFill>
            <a:srgbClr val="0A3A5C"/>
          </a:solidFill>
          <a:ln w="6350">
            <a:solidFill>
              <a:srgbClr val="2DC65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133088"/>
            <a:ext cx="10972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4206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dispatcher-group  —  1 member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70332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pic>
        <p:nvPicPr>
          <p:cNvPr id="38" name="Image 0" descr="/tmp/dfo_screenshots/kafka_raw_ev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914400"/>
            <a:ext cx="393192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32104"/>
            <a:ext cx="34747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32688"/>
          <a:ext cx="8412480" cy="4114800"/>
        </p:xfrm>
        <a:graphic>
          <a:graphicData uri="http://schemas.openxmlformats.org/drawingml/2006/table">
            <a:tbl>
              <a:tblPr/>
              <a:tblGrid>
                <a:gridCol w="3749040"/>
                <a:gridCol w="4663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offset management &amp; consumer lag spikes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fetch.min.bytes + max.poll.records; added lag metric to Prometheus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batch insert latency (&gt;500ms)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to 250-event micro-batches with async goroutine pool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 rule false positives on IoT edge cases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sensor-type context to validator; separate range tables per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sorted set score collisions on equal 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score: priority×1000 + unix_ms for deterministic ordering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incremental model drift in Snowflake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unique_key on event_id + source; scheduled full-refresh weekly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alert flapping on bursty data windows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15s evaluation + 1min resolution; added pending-period buffer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service goroutine leak under sustained 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Traced leak to dispatcher; fixed with ctx.Done() channel pattern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bridge cold-start delay (no data yet)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Pre-warm cache on startup; fall back to zero-values for missing metrics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port conflicts on local dev machine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explicit bridge network + fixed port mappings in compose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LibreOffice on Mac for PPTX→PDF in QA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homebrew poppler (pdftoppm) + soffice for conversion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8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Observatory  —  By the Numbers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438912"/>
            <a:ext cx="1901952" cy="960120"/>
          </a:xfrm>
          <a:prstGeom prst="rect">
            <a:avLst/>
          </a:prstGeom>
          <a:solidFill>
            <a:srgbClr val="0E4D6E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53035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~200/s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5936" y="438912"/>
            <a:ext cx="1901952" cy="960120"/>
          </a:xfrm>
          <a:prstGeom prst="rect">
            <a:avLst/>
          </a:prstGeom>
          <a:solidFill>
            <a:srgbClr val="0E4D6E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35936" y="53035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35936" y="10698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Messages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6112" y="438912"/>
            <a:ext cx="1901952" cy="960120"/>
          </a:xfrm>
          <a:prstGeom prst="rect">
            <a:avLst/>
          </a:prstGeom>
          <a:solidFill>
            <a:srgbClr val="0E4D6E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6112" y="53035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06112" y="10698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 Run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76288" y="438912"/>
            <a:ext cx="1901952" cy="960120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76288" y="53035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76288" y="10698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527048"/>
            <a:ext cx="1901952" cy="960120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1618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65760" y="21579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(events)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35936" y="1527048"/>
            <a:ext cx="1901952" cy="960120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35936" y="1618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535936" y="21579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6112" y="1527048"/>
            <a:ext cx="1901952" cy="960120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6112" y="1618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06112" y="21579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76288" y="1527048"/>
            <a:ext cx="1901952" cy="960120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6288" y="16184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76288" y="21579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Panels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615184"/>
            <a:ext cx="1901952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270662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65760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35936" y="2615184"/>
            <a:ext cx="1901952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35936" y="270662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2535936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Key Types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6112" y="2615184"/>
            <a:ext cx="1901952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6112" y="270662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706112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Rule Checks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76288" y="2615184"/>
            <a:ext cx="1901952" cy="960120"/>
          </a:xfrm>
          <a:prstGeom prst="rect">
            <a:avLst/>
          </a:prstGeom>
          <a:solidFill>
            <a:srgbClr val="0A2540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76288" y="270662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876288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" y="4453128"/>
            <a:ext cx="886968" cy="265176"/>
          </a:xfrm>
          <a:prstGeom prst="rect">
            <a:avLst/>
          </a:prstGeom>
          <a:solidFill>
            <a:srgbClr val="065A82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275588" y="4453128"/>
            <a:ext cx="886968" cy="265176"/>
          </a:xfrm>
          <a:prstGeom prst="rect">
            <a:avLst/>
          </a:prstGeom>
          <a:solidFill>
            <a:srgbClr val="00ACD7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75588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26564" y="4453128"/>
            <a:ext cx="886968" cy="265176"/>
          </a:xfrm>
          <a:prstGeom prst="rect">
            <a:avLst/>
          </a:prstGeom>
          <a:solidFill>
            <a:srgbClr val="231F20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26564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177540" y="4453128"/>
            <a:ext cx="886968" cy="265176"/>
          </a:xfrm>
          <a:prstGeom prst="rect">
            <a:avLst/>
          </a:prstGeom>
          <a:solidFill>
            <a:srgbClr val="29B5E8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77540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28516" y="4453128"/>
            <a:ext cx="886968" cy="265176"/>
          </a:xfrm>
          <a:prstGeom prst="rect">
            <a:avLst/>
          </a:prstGeom>
          <a:solidFill>
            <a:srgbClr val="FF694B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8516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79492" y="4453128"/>
            <a:ext cx="886968" cy="265176"/>
          </a:xfrm>
          <a:prstGeom prst="rect">
            <a:avLst/>
          </a:prstGeom>
          <a:solidFill>
            <a:srgbClr val="DC382D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9492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30468" y="4453128"/>
            <a:ext cx="886968" cy="265176"/>
          </a:xfrm>
          <a:prstGeom prst="rect">
            <a:avLst/>
          </a:prstGeom>
          <a:solidFill>
            <a:srgbClr val="E6522C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0468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981444" y="4453128"/>
            <a:ext cx="886968" cy="265176"/>
          </a:xfrm>
          <a:prstGeom prst="rect">
            <a:avLst/>
          </a:prstGeom>
          <a:solidFill>
            <a:srgbClr val="1C7293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81444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932420" y="4453128"/>
            <a:ext cx="886968" cy="265176"/>
          </a:xfrm>
          <a:prstGeom prst="rect">
            <a:avLst/>
          </a:prstGeom>
          <a:solidFill>
            <a:srgbClr val="2496ED"/>
          </a:solidFill>
          <a:ln w="5080">
            <a:solidFill>
              <a:srgbClr val="00B4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32420" y="445312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Observatory  ·  Darshil Shukla  ·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DataFlow Observatory</dc:title>
  <dc:subject>Real-Time Data Quality Monitoring Platform</dc:subject>
  <dc:creator>Darshil Shukla</dc:creator>
  <cp:lastModifiedBy>Darshil Shukla</cp:lastModifiedBy>
  <cp:revision>1</cp:revision>
  <dcterms:created xsi:type="dcterms:W3CDTF">2026-04-04T07:45:31Z</dcterms:created>
  <dcterms:modified xsi:type="dcterms:W3CDTF">2026-04-04T07:45:31Z</dcterms:modified>
</cp:coreProperties>
</file>